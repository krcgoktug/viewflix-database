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65" r:id="rId15"/>
    <p:sldId id="266" r:id="rId1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4102B-0050-43F4-B3BF-01A7CD408B36}" v="223" dt="2026-06-01T17:51:52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736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66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90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02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12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18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831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56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47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782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660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2842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17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88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26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4862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943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2174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475598"/>
            <a:ext cx="9356911" cy="58019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z="4800"/>
              <a:t>VIEWFLIX</a:t>
            </a:r>
          </a:p>
          <a:p>
            <a:endParaRPr lang="tr-TR" sz="4800" dirty="0">
              <a:solidFill>
                <a:srgbClr val="8AD0D6"/>
              </a:solidFill>
              <a:latin typeface="Century Gothic"/>
            </a:endParaRPr>
          </a:p>
          <a:p>
            <a:r>
              <a:rPr lang="tr-TR">
                <a:solidFill>
                  <a:schemeClr val="tx1"/>
                </a:solidFill>
                <a:latin typeface="Aptos"/>
              </a:rPr>
              <a:t>Movie &amp; TV Streaming Platform Database System</a:t>
            </a:r>
          </a:p>
          <a:p>
            <a:r>
              <a:rPr lang="tr-TR">
                <a:solidFill>
                  <a:schemeClr val="tx1"/>
                </a:solidFill>
                <a:latin typeface="Aptos"/>
                <a:ea typeface="+mn-lt"/>
                <a:cs typeface="+mn-lt"/>
              </a:rPr>
              <a:t>Database Management Systems Term Project</a:t>
            </a:r>
            <a:endParaRPr lang="tr-TR">
              <a:solidFill>
                <a:schemeClr val="tx1"/>
              </a:solidFill>
              <a:latin typeface="Aptos"/>
            </a:endParaRPr>
          </a:p>
          <a:p>
            <a:r>
              <a:rPr lang="tr-TR">
                <a:solidFill>
                  <a:schemeClr val="tx1"/>
                </a:solidFill>
                <a:latin typeface="Aptos"/>
                <a:ea typeface="+mn-lt"/>
                <a:cs typeface="+mn-lt"/>
              </a:rPr>
              <a:t>Prepared by:</a:t>
            </a:r>
            <a:endParaRPr lang="tr-TR">
              <a:solidFill>
                <a:schemeClr val="tx1"/>
              </a:solidFill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tr-TR">
                <a:solidFill>
                  <a:schemeClr val="tx1"/>
                </a:solidFill>
                <a:latin typeface="Aptos"/>
                <a:ea typeface="+mn-lt"/>
                <a:cs typeface="+mn-lt"/>
              </a:rPr>
              <a:t>Defne Kaya</a:t>
            </a:r>
            <a:endParaRPr lang="tr-TR">
              <a:solidFill>
                <a:schemeClr val="tx1"/>
              </a:solidFill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tr-TR">
                <a:solidFill>
                  <a:schemeClr val="tx1"/>
                </a:solidFill>
                <a:latin typeface="Aptos"/>
                <a:ea typeface="+mn-lt"/>
                <a:cs typeface="+mn-lt"/>
              </a:rPr>
              <a:t>Göktuğ Karaca</a:t>
            </a:r>
            <a:endParaRPr lang="tr-TR">
              <a:solidFill>
                <a:schemeClr val="tx1"/>
              </a:solidFill>
              <a:latin typeface="Aptos"/>
            </a:endParaRPr>
          </a:p>
          <a:p>
            <a:r>
              <a:rPr lang="tr-TR">
                <a:solidFill>
                  <a:schemeClr val="tx1"/>
                </a:solidFill>
                <a:latin typeface="Aptos"/>
                <a:ea typeface="+mn-lt"/>
                <a:cs typeface="+mn-lt"/>
              </a:rPr>
              <a:t>Instructor: Pınar EFE</a:t>
            </a:r>
            <a:endParaRPr lang="tr-TR">
              <a:solidFill>
                <a:schemeClr val="tx1"/>
              </a:solidFill>
              <a:latin typeface="Aptos"/>
            </a:endParaRPr>
          </a:p>
          <a:p>
            <a:r>
              <a:rPr lang="tr-TR">
                <a:solidFill>
                  <a:schemeClr val="tx1"/>
                </a:solidFill>
                <a:latin typeface="Aptos"/>
                <a:ea typeface="+mn-lt"/>
                <a:cs typeface="+mn-lt"/>
              </a:rPr>
              <a:t>Date: June 2026</a:t>
            </a:r>
            <a:endParaRPr lang="tr-TR">
              <a:solidFill>
                <a:schemeClr val="tx1"/>
              </a:solidFill>
              <a:latin typeface="Aptos"/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6D04B-51E1-D1B8-8FA1-098A7C769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378" y="208550"/>
            <a:ext cx="10515600" cy="1325563"/>
          </a:xfrm>
        </p:spPr>
        <p:txBody>
          <a:bodyPr>
            <a:normAutofit/>
          </a:bodyPr>
          <a:lstStyle/>
          <a:p>
            <a:r>
              <a:rPr lang="tr-TR" sz="2800">
                <a:latin typeface="Aptos"/>
              </a:rPr>
              <a:t>Project Overview</a:t>
            </a:r>
            <a:endParaRPr lang="tr-TR" sz="28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CC5EF4-8782-C036-3DFF-B04C72799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378" y="125351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tr-TR" sz="2200">
                <a:latin typeface="Aptos"/>
                <a:ea typeface="+mn-lt"/>
                <a:cs typeface="+mn-lt"/>
              </a:rPr>
              <a:t>VIEWFLIX is a database system designed for an online movie and TV streaming platform.</a:t>
            </a:r>
          </a:p>
          <a:p>
            <a:pPr>
              <a:buNone/>
            </a:pPr>
            <a:r>
              <a:rPr lang="tr-TR" sz="2200">
                <a:latin typeface="Aptos"/>
                <a:ea typeface="+mn-lt"/>
                <a:cs typeface="+mn-lt"/>
              </a:rPr>
              <a:t>The system allows users to:</a:t>
            </a:r>
          </a:p>
          <a:p>
            <a:pPr marL="285750" indent="-285750">
              <a:buFont typeface="Arial"/>
              <a:buChar char="•"/>
            </a:pPr>
            <a:r>
              <a:rPr lang="tr-TR" sz="2200">
                <a:latin typeface="Aptos"/>
                <a:ea typeface="+mn-lt"/>
                <a:cs typeface="+mn-lt"/>
              </a:rPr>
              <a:t>Subscribe to streaming plans</a:t>
            </a:r>
          </a:p>
          <a:p>
            <a:pPr>
              <a:buFont typeface="Arial"/>
              <a:buChar char="•"/>
            </a:pPr>
            <a:r>
              <a:rPr lang="tr-TR" sz="2200">
                <a:latin typeface="Aptos"/>
                <a:ea typeface="+mn-lt"/>
                <a:cs typeface="+mn-lt"/>
              </a:rPr>
              <a:t>Browse movies and TV series</a:t>
            </a:r>
          </a:p>
          <a:p>
            <a:pPr marL="285750" indent="-285750">
              <a:buFont typeface="Arial"/>
              <a:buChar char="•"/>
            </a:pPr>
            <a:r>
              <a:rPr lang="tr-TR" sz="2200">
                <a:latin typeface="Aptos"/>
                <a:ea typeface="+mn-lt"/>
                <a:cs typeface="+mn-lt"/>
              </a:rPr>
              <a:t>Add content to favorites</a:t>
            </a:r>
          </a:p>
          <a:p>
            <a:pPr marL="285750" indent="-285750">
              <a:buFont typeface="Arial"/>
              <a:buChar char="•"/>
            </a:pPr>
            <a:r>
              <a:rPr lang="tr-TR" sz="2200">
                <a:latin typeface="Aptos"/>
                <a:ea typeface="+mn-lt"/>
                <a:cs typeface="+mn-lt"/>
              </a:rPr>
              <a:t>Rate and review content</a:t>
            </a:r>
          </a:p>
          <a:p>
            <a:pPr marL="285750" indent="-285750">
              <a:buFont typeface="Arial"/>
              <a:buChar char="•"/>
            </a:pPr>
            <a:r>
              <a:rPr lang="tr-TR" sz="2200">
                <a:latin typeface="Aptos"/>
                <a:ea typeface="+mn-lt"/>
                <a:cs typeface="+mn-lt"/>
              </a:rPr>
              <a:t>Track viewing history</a:t>
            </a:r>
          </a:p>
          <a:p>
            <a:pPr marL="285750" indent="-285750">
              <a:buFont typeface="Arial"/>
              <a:buChar char="•"/>
            </a:pPr>
            <a:r>
              <a:rPr lang="tr-TR" sz="2200">
                <a:latin typeface="Aptos"/>
                <a:ea typeface="+mn-lt"/>
                <a:cs typeface="+mn-lt"/>
              </a:rPr>
              <a:t>View actors and directors associated with content</a:t>
            </a:r>
          </a:p>
          <a:p>
            <a:pPr marL="0" indent="0">
              <a:buNone/>
            </a:pPr>
            <a:r>
              <a:rPr lang="tr-TR" sz="2200">
                <a:latin typeface="Aptos"/>
                <a:ea typeface="+mn-lt"/>
                <a:cs typeface="+mn-lt"/>
              </a:rPr>
              <a:t>Project</a:t>
            </a:r>
            <a:r>
              <a:rPr lang="tr-TR" sz="2200">
                <a:latin typeface="Aptos"/>
              </a:rPr>
              <a:t> Goal:</a:t>
            </a:r>
          </a:p>
          <a:p>
            <a:pPr>
              <a:buNone/>
            </a:pPr>
            <a:r>
              <a:rPr lang="tr-TR" sz="2200">
                <a:latin typeface="Aptos"/>
                <a:ea typeface="+mn-lt"/>
                <a:cs typeface="+mn-lt"/>
              </a:rPr>
              <a:t>The goal of this project is to design and implement a normalized relational database that efficiently manages users, subscriptions, streaming content, and user interactions.</a:t>
            </a:r>
          </a:p>
          <a:p>
            <a:pPr marL="0" indent="0">
              <a:buNone/>
            </a:pPr>
            <a:endParaRPr lang="tr-TR" dirty="0"/>
          </a:p>
          <a:p>
            <a:pPr>
              <a:buFont typeface="Arial" charset="2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29859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F81B19-7B90-BAA0-FA8E-FCDD1EABA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>
                <a:latin typeface="Aptos"/>
              </a:rPr>
              <a:t>SYSTEM REQUIREMENTS</a:t>
            </a:r>
            <a:endParaRPr lang="tr-TR" sz="28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44ADC25-EAC4-C6DD-B31A-908CB448F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tr-TR" sz="2400">
                <a:latin typeface="Aptos"/>
                <a:ea typeface="+mn-lt"/>
                <a:cs typeface="+mn-lt"/>
              </a:rPr>
              <a:t>The system must be able to: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Store user account information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Manage subscription plans and subscriptions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Store movies and TV series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Categorize content by genres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Store actor, director, writer, and producer information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Track user viewing history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Allow users to add favorites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Allow users to submit ratings and reviews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Maintain data consistency and integrity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39436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263B2A-6282-B84B-3C7F-AAC58AD7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>
                <a:ea typeface="+mj-lt"/>
                <a:cs typeface="+mj-lt"/>
              </a:rPr>
              <a:t>ENTITY RELATIONSHIP (ER) DIAGRAM</a:t>
            </a:r>
            <a:endParaRPr lang="tr-TR" sz="28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CF91821-4A4B-A082-4BFF-E17F1CE25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29100" cy="441857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tr-TR">
                <a:latin typeface="Aptos"/>
              </a:rPr>
              <a:t>Main Entities:</a:t>
            </a:r>
            <a:endParaRPr lang="tr-TR"/>
          </a:p>
          <a:p>
            <a:pPr>
              <a:buFont typeface="Arial" charset="2"/>
              <a:buChar char="•"/>
            </a:pPr>
            <a:r>
              <a:rPr lang="tr-TR">
                <a:latin typeface="Aptos"/>
                <a:ea typeface="+mn-lt"/>
                <a:cs typeface="+mn-lt"/>
              </a:rPr>
              <a:t>Users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>
                <a:latin typeface="Aptos"/>
                <a:ea typeface="+mn-lt"/>
                <a:cs typeface="+mn-lt"/>
              </a:rPr>
              <a:t>Subscription_Plans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>
                <a:latin typeface="Aptos"/>
                <a:ea typeface="+mn-lt"/>
                <a:cs typeface="+mn-lt"/>
              </a:rPr>
              <a:t>Subscriptions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>
                <a:latin typeface="Aptos"/>
                <a:ea typeface="+mn-lt"/>
                <a:cs typeface="+mn-lt"/>
              </a:rPr>
              <a:t>Content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>
                <a:latin typeface="Aptos"/>
                <a:ea typeface="+mn-lt"/>
                <a:cs typeface="+mn-lt"/>
              </a:rPr>
              <a:t>Genres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>
                <a:latin typeface="Aptos"/>
                <a:ea typeface="+mn-lt"/>
                <a:cs typeface="+mn-lt"/>
              </a:rPr>
              <a:t>People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>
                <a:latin typeface="Aptos"/>
                <a:ea typeface="+mn-lt"/>
                <a:cs typeface="+mn-lt"/>
              </a:rPr>
              <a:t>Watch_History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>
                <a:latin typeface="Aptos"/>
                <a:ea typeface="+mn-lt"/>
                <a:cs typeface="+mn-lt"/>
              </a:rPr>
              <a:t>Reviews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>
                <a:latin typeface="Aptos"/>
                <a:ea typeface="+mn-lt"/>
                <a:cs typeface="+mn-lt"/>
              </a:rPr>
              <a:t>Favorites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>
                <a:latin typeface="Aptos"/>
                <a:ea typeface="+mn-lt"/>
                <a:cs typeface="+mn-lt"/>
              </a:rPr>
              <a:t>Content_Genres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>
                <a:latin typeface="Aptos"/>
                <a:ea typeface="+mn-lt"/>
                <a:cs typeface="+mn-lt"/>
              </a:rPr>
              <a:t>Content_Cast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endParaRPr lang="tr-TR" dirty="0"/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862511D0-4E26-310F-4478-9B0043C41FEB}"/>
              </a:ext>
            </a:extLst>
          </p:cNvPr>
          <p:cNvSpPr txBox="1">
            <a:spLocks/>
          </p:cNvSpPr>
          <p:nvPr/>
        </p:nvSpPr>
        <p:spPr>
          <a:xfrm>
            <a:off x="4374777" y="1585819"/>
            <a:ext cx="6873687" cy="44185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tr-TR" sz="1900">
                <a:latin typeface="Aptos"/>
              </a:rPr>
              <a:t>Relationships:</a:t>
            </a:r>
          </a:p>
          <a:p>
            <a:pPr marL="285750" indent="-285750">
              <a:buFont typeface="Arial"/>
            </a:pPr>
            <a:r>
              <a:rPr lang="tr-TR" sz="1900">
                <a:latin typeface="Aptos"/>
                <a:ea typeface="+mn-lt"/>
                <a:cs typeface="+mn-lt"/>
              </a:rPr>
              <a:t>One User can have one Subscription</a:t>
            </a:r>
          </a:p>
          <a:p>
            <a:pPr marL="285750" indent="-285750">
              <a:buFont typeface="Arial"/>
            </a:pPr>
            <a:r>
              <a:rPr lang="tr-TR" sz="1900">
                <a:latin typeface="Aptos"/>
                <a:ea typeface="+mn-lt"/>
                <a:cs typeface="+mn-lt"/>
              </a:rPr>
              <a:t>One Subscription belongs to one Subscription Plan</a:t>
            </a:r>
            <a:endParaRPr lang="tr-TR" sz="1900">
              <a:latin typeface="Aptos"/>
            </a:endParaRPr>
          </a:p>
          <a:p>
            <a:pPr marL="285750" indent="-285750">
              <a:buFont typeface="Arial"/>
            </a:pPr>
            <a:r>
              <a:rPr lang="tr-TR" sz="1900">
                <a:latin typeface="Aptos"/>
                <a:ea typeface="+mn-lt"/>
                <a:cs typeface="+mn-lt"/>
              </a:rPr>
              <a:t>One Content can belong to multiple Genres</a:t>
            </a:r>
          </a:p>
          <a:p>
            <a:pPr marL="285750" indent="-285750">
              <a:buFont typeface="Arial"/>
            </a:pPr>
            <a:r>
              <a:rPr lang="tr-TR" sz="1900">
                <a:latin typeface="Aptos"/>
                <a:ea typeface="+mn-lt"/>
                <a:cs typeface="+mn-lt"/>
              </a:rPr>
              <a:t>One Genre can be assigned to multiple Content items</a:t>
            </a:r>
            <a:endParaRPr lang="tr-TR" sz="1900">
              <a:latin typeface="Aptos"/>
            </a:endParaRPr>
          </a:p>
          <a:p>
            <a:pPr marL="285750" indent="-285750">
              <a:buFont typeface="Arial"/>
            </a:pPr>
            <a:r>
              <a:rPr lang="tr-TR" sz="1900">
                <a:latin typeface="Aptos"/>
                <a:ea typeface="+mn-lt"/>
                <a:cs typeface="+mn-lt"/>
              </a:rPr>
              <a:t>One Content can have multiple People</a:t>
            </a:r>
          </a:p>
          <a:p>
            <a:pPr marL="285750" indent="-285750">
              <a:buFont typeface="Arial"/>
            </a:pPr>
            <a:r>
              <a:rPr lang="tr-TR" sz="1900">
                <a:latin typeface="Aptos"/>
                <a:ea typeface="+mn-lt"/>
                <a:cs typeface="+mn-lt"/>
              </a:rPr>
              <a:t>One Person can participate in multiple Content items</a:t>
            </a:r>
            <a:endParaRPr lang="tr-TR" sz="1900">
              <a:latin typeface="Aptos"/>
            </a:endParaRPr>
          </a:p>
          <a:p>
            <a:pPr marL="285750" indent="-285750">
              <a:buFont typeface="Arial"/>
            </a:pPr>
            <a:r>
              <a:rPr lang="tr-TR" sz="1900">
                <a:latin typeface="Aptos"/>
                <a:ea typeface="+mn-lt"/>
                <a:cs typeface="+mn-lt"/>
              </a:rPr>
              <a:t>One User can watch multiple Content items</a:t>
            </a:r>
            <a:endParaRPr lang="tr-TR" sz="1900">
              <a:latin typeface="Aptos"/>
            </a:endParaRPr>
          </a:p>
          <a:p>
            <a:pPr marL="285750" indent="-285750">
              <a:buFont typeface="Arial"/>
            </a:pPr>
            <a:r>
              <a:rPr lang="tr-TR" sz="1900">
                <a:latin typeface="Aptos"/>
                <a:ea typeface="+mn-lt"/>
                <a:cs typeface="+mn-lt"/>
              </a:rPr>
              <a:t>One User can review multiple Content items</a:t>
            </a:r>
            <a:endParaRPr lang="tr-TR" sz="1900">
              <a:latin typeface="Aptos"/>
            </a:endParaRPr>
          </a:p>
          <a:p>
            <a:pPr marL="285750" indent="-285750">
              <a:buFont typeface="Arial"/>
            </a:pPr>
            <a:r>
              <a:rPr lang="tr-TR" sz="1900">
                <a:latin typeface="Aptos"/>
                <a:ea typeface="+mn-lt"/>
                <a:cs typeface="+mn-lt"/>
              </a:rPr>
              <a:t>One User can add multiple Content items to Favorites</a:t>
            </a:r>
            <a:endParaRPr lang="tr-TR" sz="1900" dirty="0">
              <a:latin typeface="Aptos"/>
            </a:endParaRPr>
          </a:p>
          <a:p>
            <a:endParaRPr lang="tr-TR" sz="18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3563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 descr="metin, sayı, numara, yazılım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D913CF8-6CFF-B549-9F05-4107D758D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8" y="-110095"/>
            <a:ext cx="12170883" cy="6963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F3864"/>
                </a:solidFill>
              </a:rPr>
              <a:t>ER Diagram (Chen Notation)</a:t>
            </a:r>
          </a:p>
        </p:txBody>
      </p:sp>
      <p:pic>
        <p:nvPicPr>
          <p:cNvPr id="6" name="Picture 5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051560"/>
            <a:ext cx="5050871" cy="553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9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610EC9-CA22-E373-866F-126CAA154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9240"/>
          </a:xfrm>
        </p:spPr>
        <p:txBody>
          <a:bodyPr>
            <a:normAutofit/>
          </a:bodyPr>
          <a:lstStyle/>
          <a:p>
            <a:r>
              <a:rPr lang="tr-TR" sz="2800">
                <a:ea typeface="+mj-lt"/>
                <a:cs typeface="+mj-lt"/>
              </a:rPr>
              <a:t>DATABASE DESIGN (3NF)</a:t>
            </a:r>
            <a:endParaRPr lang="tr-TR" sz="28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F7B319-1F2B-DA8C-FE2D-00354601D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479"/>
            <a:ext cx="10963835" cy="52141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tr-TR" sz="2200">
                <a:latin typeface="Aptos"/>
              </a:rPr>
              <a:t>Normalization:</a:t>
            </a:r>
            <a:endParaRPr lang="tr-TR"/>
          </a:p>
          <a:p>
            <a:pPr marL="0" indent="0">
              <a:buNone/>
            </a:pPr>
            <a:r>
              <a:rPr lang="tr-TR" sz="2200">
                <a:latin typeface="Aptos"/>
                <a:ea typeface="+mn-lt"/>
                <a:cs typeface="+mn-lt"/>
              </a:rPr>
              <a:t>The database is designed in Third Normal Form (3NF).</a:t>
            </a:r>
            <a:endParaRPr lang="tr-TR" sz="22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200">
                <a:latin typeface="Aptos"/>
              </a:rPr>
              <a:t>First Normal Form (1NF):</a:t>
            </a:r>
            <a:r>
              <a:rPr lang="tr-TR" sz="2200">
                <a:latin typeface="Aptos"/>
                <a:ea typeface="+mn-lt"/>
                <a:cs typeface="+mn-lt"/>
              </a:rPr>
              <a:t> All attributes contain atomic values. No repeating groups.</a:t>
            </a:r>
            <a:endParaRPr lang="tr-TR" sz="22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200">
                <a:latin typeface="Aptos"/>
              </a:rPr>
              <a:t>Second Normal Form (2NF):</a:t>
            </a:r>
            <a:r>
              <a:rPr lang="tr-TR" sz="2200">
                <a:latin typeface="Aptos"/>
                <a:ea typeface="+mn-lt"/>
                <a:cs typeface="+mn-lt"/>
              </a:rPr>
              <a:t> No partial dependency on composite keys.</a:t>
            </a:r>
            <a:endParaRPr lang="tr-TR" sz="22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200">
                <a:latin typeface="Aptos"/>
              </a:rPr>
              <a:t>Third Normal Form (3NF): </a:t>
            </a:r>
            <a:r>
              <a:rPr lang="tr-TR" sz="2200">
                <a:latin typeface="Aptos"/>
                <a:ea typeface="+mn-lt"/>
                <a:cs typeface="+mn-lt"/>
              </a:rPr>
              <a:t>No transitive dependency.</a:t>
            </a:r>
            <a:endParaRPr lang="tr-TR" sz="22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200">
                <a:latin typeface="Aptos"/>
                <a:ea typeface="+mn-lt"/>
                <a:cs typeface="+mn-lt"/>
              </a:rPr>
              <a:t>Every non-key attribute depends only on the primary key</a:t>
            </a:r>
            <a:endParaRPr lang="tr-TR" sz="2200">
              <a:latin typeface="Aptos"/>
            </a:endParaRPr>
          </a:p>
          <a:p>
            <a:pPr marL="0" indent="0">
              <a:buNone/>
            </a:pPr>
            <a:r>
              <a:rPr lang="tr-TR" sz="2200">
                <a:latin typeface="Aptos"/>
              </a:rPr>
              <a:t>Bridge Tables:</a:t>
            </a:r>
          </a:p>
          <a:p>
            <a:pPr marL="0" indent="0">
              <a:buNone/>
            </a:pPr>
            <a:r>
              <a:rPr lang="tr-TR" sz="2200">
                <a:latin typeface="Aptos"/>
                <a:ea typeface="+mn-lt"/>
                <a:cs typeface="+mn-lt"/>
              </a:rPr>
              <a:t>Many-to-many relationships are resolved using:</a:t>
            </a:r>
            <a:endParaRPr lang="tr-TR" sz="22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200">
                <a:latin typeface="Aptos"/>
                <a:ea typeface="+mn-lt"/>
                <a:cs typeface="+mn-lt"/>
              </a:rPr>
              <a:t>Content_Genres</a:t>
            </a:r>
            <a:endParaRPr lang="tr-TR" sz="22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200">
                <a:latin typeface="Aptos"/>
                <a:ea typeface="+mn-lt"/>
                <a:cs typeface="+mn-lt"/>
              </a:rPr>
              <a:t>Content_Cast</a:t>
            </a:r>
            <a:endParaRPr lang="tr-TR" sz="22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200">
                <a:latin typeface="Aptos"/>
                <a:ea typeface="+mn-lt"/>
                <a:cs typeface="+mn-lt"/>
              </a:rPr>
              <a:t>Favorites</a:t>
            </a:r>
            <a:endParaRPr lang="tr-TR" sz="2000">
              <a:latin typeface="Aptos"/>
            </a:endParaRPr>
          </a:p>
          <a:p>
            <a:pPr>
              <a:buFont typeface="Arial" charset="2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50302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B159A9-0E65-BA92-F6D0-719CE681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>
                <a:ea typeface="+mj-lt"/>
                <a:cs typeface="+mj-lt"/>
              </a:rPr>
              <a:t>TABLE STRUCTURE</a:t>
            </a:r>
            <a:endParaRPr lang="tr-TR" sz="2800"/>
          </a:p>
        </p:txBody>
      </p:sp>
      <p:graphicFrame>
        <p:nvGraphicFramePr>
          <p:cNvPr id="12" name="İçerik Yer Tutucusu 11">
            <a:extLst>
              <a:ext uri="{FF2B5EF4-FFF2-40B4-BE49-F238E27FC236}">
                <a16:creationId xmlns:a16="http://schemas.microsoft.com/office/drawing/2014/main" id="{3BC2EE3B-C99C-12DB-25FB-C678638B55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134411"/>
              </p:ext>
            </p:extLst>
          </p:nvPr>
        </p:nvGraphicFramePr>
        <p:xfrm>
          <a:off x="838200" y="1825625"/>
          <a:ext cx="4657742" cy="6309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57742">
                  <a:extLst>
                    <a:ext uri="{9D8B030D-6E8A-4147-A177-3AD203B41FA5}">
                      <a16:colId xmlns:a16="http://schemas.microsoft.com/office/drawing/2014/main" val="2259713657"/>
                    </a:ext>
                  </a:extLst>
                </a:gridCol>
              </a:tblGrid>
              <a:tr h="19827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STRONG ENTITIES</a:t>
                      </a:r>
                      <a:endParaRPr lang="tr-TR" sz="1800">
                        <a:solidFill>
                          <a:srgbClr val="FFFFFF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sz="1800" dirty="0">
                        <a:solidFill>
                          <a:srgbClr val="FFFFFF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Table                                      Primary Key</a:t>
                      </a:r>
                      <a:endParaRPr lang="tr-TR" sz="1800">
                        <a:solidFill>
                          <a:srgbClr val="FFFFFF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------------------------------------------------</a:t>
                      </a:r>
                      <a:endParaRPr lang="tr-TR" sz="1800">
                        <a:solidFill>
                          <a:srgbClr val="FFFFFF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Users                                      user_id</a:t>
                      </a:r>
                      <a:endParaRPr lang="tr-TR" sz="1800">
                        <a:solidFill>
                          <a:srgbClr val="FFFFFF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Subscription_Plans          plan_id</a:t>
                      </a:r>
                      <a:endParaRPr lang="tr-TR" sz="1800">
                        <a:solidFill>
                          <a:srgbClr val="FFFFFF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Subscriptions                      subscription_id</a:t>
                      </a:r>
                      <a:endParaRPr lang="tr-TR" sz="1800">
                        <a:solidFill>
                          <a:srgbClr val="FFFFFF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Content                                  content_id</a:t>
                      </a:r>
                      <a:endParaRPr lang="tr-TR" sz="1800">
                        <a:solidFill>
                          <a:srgbClr val="FFFFFF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Genres                                    genre_id</a:t>
                      </a:r>
                      <a:endParaRPr lang="tr-TR" sz="1800">
                        <a:solidFill>
                          <a:srgbClr val="FFFFFF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People                                     person_id</a:t>
                      </a:r>
                      <a:endParaRPr lang="tr-TR" sz="1800">
                        <a:solidFill>
                          <a:srgbClr val="FFFFFF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Watch_History                    history_id</a:t>
                      </a:r>
                      <a:endParaRPr lang="tr-TR" sz="1800">
                        <a:solidFill>
                          <a:srgbClr val="FFFFFF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r>
                        <a:rPr lang="tr-TR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Reviews                                  review_id</a:t>
                      </a:r>
                      <a:endParaRPr lang="tr-TR" sz="180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478003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177716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25952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014376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267150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682517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436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995274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116899"/>
                  </a:ext>
                </a:extLst>
              </a:tr>
            </a:tbl>
          </a:graphicData>
        </a:graphic>
      </p:graphicFrame>
      <p:graphicFrame>
        <p:nvGraphicFramePr>
          <p:cNvPr id="14" name="İçerik Yer Tutucusu 11">
            <a:extLst>
              <a:ext uri="{FF2B5EF4-FFF2-40B4-BE49-F238E27FC236}">
                <a16:creationId xmlns:a16="http://schemas.microsoft.com/office/drawing/2014/main" id="{B8BEFC7F-1E13-A9F0-1F9D-ED5E5EF5E8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7082205"/>
              </p:ext>
            </p:extLst>
          </p:nvPr>
        </p:nvGraphicFramePr>
        <p:xfrm>
          <a:off x="6257365" y="1821143"/>
          <a:ext cx="4657742" cy="5760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57742">
                  <a:extLst>
                    <a:ext uri="{9D8B030D-6E8A-4147-A177-3AD203B41FA5}">
                      <a16:colId xmlns:a16="http://schemas.microsoft.com/office/drawing/2014/main" val="2259713657"/>
                    </a:ext>
                  </a:extLst>
                </a:gridCol>
              </a:tblGrid>
              <a:tr h="19827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ASSOCIATIVE (WEAK) ENTITIES</a:t>
                      </a:r>
                      <a:endParaRPr lang="tr-TR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Table                                Composite Primary Key</a:t>
                      </a:r>
                      <a:endParaRPr lang="tr-TR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---------------------------------------------------------</a:t>
                      </a:r>
                      <a:endParaRPr lang="tr-TR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Content_Genres          (content_id, genre_id)</a:t>
                      </a:r>
                      <a:endParaRPr lang="tr-TR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Content_Cast               (content_id, person_id, cast_role)</a:t>
                      </a:r>
                      <a:endParaRPr lang="tr-TR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r-TR" dirty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Favorites                         (user_id, content_id)</a:t>
                      </a:r>
                      <a:endParaRPr lang="tr-TR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478003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177716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25952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014376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267150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682517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072436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995274"/>
                  </a:ext>
                </a:extLst>
              </a:tr>
              <a:tr h="2167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116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210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3D4A100-F486-D7D8-9F54-89C4E183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>
                <a:ea typeface="+mj-lt"/>
                <a:cs typeface="+mj-lt"/>
              </a:rPr>
              <a:t>PRIMARY &amp;FOREIGN KEYS</a:t>
            </a:r>
            <a:endParaRPr lang="tr-TR" sz="28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95D2EF-EAA2-AFB5-5FB4-F2A2D7A91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3512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Table                                    Primary Key 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-------------------------------------------------------------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Users                                    user_id 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Subscription_Plans       plan_id 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Subscriptions                   subscription_id 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Content                               content_id 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Genres                                 genre_id 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People                                  person_id 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Watch_History                  history_id 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Reviews                                review_id </a:t>
            </a:r>
          </a:p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Content_Genres               (content_id, genre_id) 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Content_Cast                    (content_id, person_id,                        cast_role) 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  <a:ea typeface="+mn-lt"/>
                <a:cs typeface="+mn-lt"/>
              </a:rPr>
              <a:t>Favorites                               (user_id, content_id) 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A90ACE6F-3397-0AF0-9A9D-DC24885D498E}"/>
              </a:ext>
            </a:extLst>
          </p:cNvPr>
          <p:cNvSpPr txBox="1">
            <a:spLocks/>
          </p:cNvSpPr>
          <p:nvPr/>
        </p:nvSpPr>
        <p:spPr>
          <a:xfrm>
            <a:off x="5977218" y="1507993"/>
            <a:ext cx="5013512" cy="466448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tr-T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Table                          Foreign Key             References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------------------------------------------------------------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Subscriptions           user_id                   Users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Subscriptions           plan_id                   Subscription_Plans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Content_Genres      content_id            Content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Content_Genres      genre_id                 Genres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Content_Cast            content_id            Content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Content_Cast            person_id              People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Watch_History           user_id                    Users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Watch_History           content_id             Content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Reviews                         user_id                   Users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Reviews                         content_id            Content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Favorites                       user_id                    Users</a:t>
            </a:r>
            <a:endParaRPr lang="tr-TR">
              <a:latin typeface="Apto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>
                <a:latin typeface="Aptos"/>
                <a:ea typeface="+mn-lt"/>
                <a:cs typeface="+mn-lt"/>
              </a:rPr>
              <a:t>Favorites                        content_id           Content</a:t>
            </a:r>
            <a:endParaRPr lang="tr-TR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98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83B7C4-12F2-5937-A0FD-D538D6E2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>
                <a:ea typeface="+mj-lt"/>
                <a:cs typeface="+mj-lt"/>
              </a:rPr>
              <a:t>SAMPLE SQL QUERIES</a:t>
            </a:r>
            <a:endParaRPr lang="tr-TR" sz="28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9A3BC4C-AE6F-2CB9-DAD3-1B1C9C6A8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6695"/>
            <a:ext cx="3511464" cy="504026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Q1: Which users currently have an active account status?</a:t>
            </a:r>
            <a:endParaRPr lang="tr-TR" sz="1800" dirty="0">
              <a:latin typeface="Aptos"/>
            </a:endParaRPr>
          </a:p>
          <a:p>
            <a:pPr marL="0" indent="0">
              <a:buNone/>
            </a:pPr>
            <a:r>
              <a:rPr lang="tr-TR" sz="1800" dirty="0">
                <a:latin typeface="Aptos"/>
              </a:rPr>
              <a:t>SELECT *
FROM users
</a:t>
            </a:r>
            <a:r>
              <a:rPr lang="tr-TR" sz="1800">
                <a:latin typeface="Aptos"/>
              </a:rPr>
              <a:t>WHERE account_status = 'Active';</a:t>
            </a:r>
            <a:br>
              <a:rPr lang="en-US" dirty="0"/>
            </a:br>
            <a:endParaRPr lang="en-US"/>
          </a:p>
          <a:p>
            <a:pPr>
              <a:buNone/>
            </a:pPr>
            <a:r>
              <a:rPr lang="tr-TR" sz="1800">
                <a:latin typeface="Aptos"/>
              </a:rPr>
              <a:t>Q2: What ratings have users given to content titles?</a:t>
            </a:r>
          </a:p>
          <a:p>
            <a:pPr marL="0" indent="0">
              <a:buNone/>
            </a:pPr>
            <a:r>
              <a:rPr lang="tr-TR" sz="1800" dirty="0">
                <a:latin typeface="Aptos"/>
              </a:rPr>
              <a:t>SELECT u.first_name,
       c.title,
       r.rating
FROM reviews r
JOIN users u ON r.user_id = u.user_id
</a:t>
            </a:r>
            <a:r>
              <a:rPr lang="tr-TR" sz="1800">
                <a:latin typeface="Aptos"/>
              </a:rPr>
              <a:t>JOIN content c ON r.content_id = c.content_id;</a:t>
            </a:r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3A1A0EE1-8E08-A164-B425-531BAB06BE49}"/>
              </a:ext>
            </a:extLst>
          </p:cNvPr>
          <p:cNvSpPr txBox="1">
            <a:spLocks/>
          </p:cNvSpPr>
          <p:nvPr/>
        </p:nvSpPr>
        <p:spPr>
          <a:xfrm>
            <a:off x="6001011" y="1132519"/>
            <a:ext cx="4263025" cy="49045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 panose="020B0604020202020204" pitchFamily="34" charset="0"/>
            </a:pPr>
            <a:r>
              <a:rPr lang="tr-TR" sz="1800">
                <a:latin typeface="Aptos"/>
                <a:ea typeface="+mn-lt"/>
                <a:cs typeface="+mn-lt"/>
              </a:rPr>
              <a:t>Q3: Which content items have been added to users' favorites lists?</a:t>
            </a:r>
            <a:endParaRPr lang="en-US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</a:rPr>
              <a:t>SELECT u.first_name,</a:t>
            </a:r>
            <a:br>
              <a:rPr lang="tr-TR" sz="1800" dirty="0">
                <a:latin typeface="Aptos"/>
              </a:rPr>
            </a:br>
            <a:r>
              <a:rPr lang="tr-TR" sz="1800">
                <a:latin typeface="Aptos"/>
              </a:rPr>
              <a:t> c.title</a:t>
            </a:r>
            <a:br>
              <a:rPr lang="tr-TR" sz="1800" dirty="0">
                <a:latin typeface="Aptos"/>
              </a:rPr>
            </a:br>
            <a:r>
              <a:rPr lang="tr-TR" sz="1800">
                <a:latin typeface="Aptos"/>
              </a:rPr>
              <a:t>FROM favorites f</a:t>
            </a:r>
            <a:br>
              <a:rPr lang="tr-TR" sz="1800" dirty="0">
                <a:latin typeface="Aptos"/>
              </a:rPr>
            </a:br>
            <a:r>
              <a:rPr lang="tr-TR" sz="1800">
                <a:latin typeface="Aptos"/>
              </a:rPr>
              <a:t>JOIN users u ON f.user_id = u.user_id</a:t>
            </a:r>
            <a:br>
              <a:rPr lang="tr-TR" sz="1800" dirty="0">
                <a:latin typeface="Aptos"/>
              </a:rPr>
            </a:br>
            <a:r>
              <a:rPr lang="tr-TR" sz="1800">
                <a:latin typeface="Aptos"/>
              </a:rPr>
              <a:t>JOIN content c ON f.content_id = c.content_id;</a:t>
            </a:r>
          </a:p>
          <a:p>
            <a:pPr marL="285750" indent="-285750">
              <a:buFont typeface="Arial,Sans-Serif" panose="020B0604020202020204" pitchFamily="34" charset="0"/>
            </a:pPr>
            <a:r>
              <a:rPr lang="tr-TR" sz="1800">
                <a:latin typeface="Aptos"/>
                <a:ea typeface="+mn-lt"/>
                <a:cs typeface="+mn-lt"/>
              </a:rPr>
              <a:t>Q4: What is the average rating received by each content title?</a:t>
            </a:r>
            <a:endParaRPr lang="en-US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</a:rPr>
              <a:t>SELECT c.title,</a:t>
            </a:r>
            <a:br>
              <a:rPr lang="tr-TR" sz="1800" dirty="0">
                <a:latin typeface="Aptos"/>
              </a:rPr>
            </a:br>
            <a:r>
              <a:rPr lang="tr-TR" sz="1800">
                <a:latin typeface="Aptos"/>
              </a:rPr>
              <a:t> AVG(r.rating) AS average_rating</a:t>
            </a:r>
            <a:br>
              <a:rPr lang="tr-TR" sz="1800" dirty="0">
                <a:latin typeface="Aptos"/>
              </a:rPr>
            </a:br>
            <a:r>
              <a:rPr lang="tr-TR" sz="1800">
                <a:latin typeface="Aptos"/>
              </a:rPr>
              <a:t>FROM reviews r</a:t>
            </a:r>
            <a:br>
              <a:rPr lang="tr-TR" sz="1800" dirty="0">
                <a:latin typeface="Aptos"/>
              </a:rPr>
            </a:br>
            <a:r>
              <a:rPr lang="tr-TR" sz="1800">
                <a:latin typeface="Aptos"/>
              </a:rPr>
              <a:t>JOIN content c ON r.content_id = c.content_id</a:t>
            </a:r>
            <a:br>
              <a:rPr lang="tr-TR" sz="1800" dirty="0">
                <a:latin typeface="Aptos"/>
              </a:rPr>
            </a:br>
            <a:r>
              <a:rPr lang="tr-TR" sz="1800">
                <a:latin typeface="Aptos"/>
              </a:rPr>
              <a:t>GROUP BY c.title;</a:t>
            </a:r>
          </a:p>
        </p:txBody>
      </p:sp>
    </p:spTree>
    <p:extLst>
      <p:ext uri="{BB962C8B-B14F-4D97-AF65-F5344CB8AC3E}">
        <p14:creationId xmlns:p14="http://schemas.microsoft.com/office/powerpoint/2010/main" val="148289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7ABBB22-C99B-E6A1-DD3A-23C254CCB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271" y="361905"/>
            <a:ext cx="5491446" cy="588649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Q5:How can we list all movies ordered by IMDb rating?</a:t>
            </a:r>
            <a:endParaRPr lang="tr-TR"/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title, release_year, imdb_rating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content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WHERE content_type = 'Movie'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ORDER BY imdb_rating DESC;</a:t>
            </a:r>
          </a:p>
          <a:p>
            <a:pPr marL="0" indent="0">
              <a:buNone/>
            </a:pPr>
            <a:endParaRPr lang="tr-TR" sz="1800" dirty="0">
              <a:latin typeface="Aptos"/>
              <a:ea typeface="+mj-lt"/>
              <a:cs typeface="+mj-lt"/>
            </a:endParaRPr>
          </a:p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Q6: Which active users are located in Turkey?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first_name, last_name, email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users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WHERE country = 'Turkey' AND account_status = 'Active';</a:t>
            </a:r>
          </a:p>
          <a:p>
            <a:pPr marL="0" indent="0">
              <a:buNone/>
            </a:pPr>
            <a:endParaRPr lang="tr-TR" sz="1800" dirty="0">
              <a:latin typeface="Aptos"/>
              <a:ea typeface="+mj-lt"/>
              <a:cs typeface="+mj-lt"/>
            </a:endParaRPr>
          </a:p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Q7: Which reviews have a rating of 9 or higher?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user_id, content_id, rating, comment, review_date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reviews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WHERE rating &gt;= 9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ORDER BY review_date DESC;</a:t>
            </a:r>
            <a:endParaRPr lang="tr-TR">
              <a:latin typeface="Aptos"/>
            </a:endParaRPr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28006170-29D7-6FF4-7E29-03A89C521108}"/>
              </a:ext>
            </a:extLst>
          </p:cNvPr>
          <p:cNvSpPr txBox="1">
            <a:spLocks/>
          </p:cNvSpPr>
          <p:nvPr/>
        </p:nvSpPr>
        <p:spPr>
          <a:xfrm>
            <a:off x="6088671" y="1401565"/>
            <a:ext cx="5491446" cy="48426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Q8: Which content items were released after 2015?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title, content_type, release_year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content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WHERE release_year &gt; 2015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ORDER BY release_year, title;</a:t>
            </a:r>
            <a:endParaRPr lang="tr-TR">
              <a:latin typeface="Aptos"/>
              <a:ea typeface="+mj-lt"/>
              <a:cs typeface="+mj-lt"/>
            </a:endParaRPr>
          </a:p>
          <a:p>
            <a:pPr marL="0" indent="0">
              <a:buFont typeface="Wingdings 3" charset="2"/>
              <a:buNone/>
            </a:pPr>
            <a:endParaRPr lang="tr-TR" sz="1800" dirty="0">
              <a:latin typeface="Aptos"/>
              <a:ea typeface="+mj-lt"/>
              <a:cs typeface="+mj-lt"/>
            </a:endParaRPr>
          </a:p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Q9: Which subscription plans support 4 or more screens?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plan_name, monthly_price, max_resolution, max_screens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subscription_plans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WHERE max_screens &gt;= 4;</a:t>
            </a:r>
            <a:endParaRPr lang="tr-TR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833393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8E9D6A-3E50-C19D-8D0D-A8CDB2DD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17654"/>
          </a:xfrm>
        </p:spPr>
        <p:txBody>
          <a:bodyPr/>
          <a:lstStyle/>
          <a:p>
            <a:r>
              <a:rPr lang="tr-TR" sz="2800"/>
              <a:t>COMPLEX SQL QUERİES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3D245BE-8050-C3FD-8769-1952C15C7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082152"/>
            <a:ext cx="4656377" cy="516624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Q1: Which content has an IMDb rating above the average?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title, content_type, imdb_rating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content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WHERE imdb_rating &gt; (SELECT AVG(imdb_rating) FROM content)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ORDER BY imdb_rating DESC;</a:t>
            </a:r>
          </a:p>
          <a:p>
            <a:pPr marL="0" indent="0">
              <a:buNone/>
            </a:pPr>
            <a:endParaRPr lang="tr-TR" sz="1800" dirty="0">
              <a:latin typeface="Aptos"/>
              <a:ea typeface="+mj-lt"/>
              <a:cs typeface="+mj-lt"/>
            </a:endParaRPr>
          </a:p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Q2: Which content has never been watched by any user?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c.title, c.content_type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content c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WHERE NOT EXISTS (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    SELECT 1 FROM watch_history wh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    WHERE wh.content_id = c.content_id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)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ORDER BY c.title;</a:t>
            </a:r>
            <a:endParaRPr lang="tr-TR">
              <a:latin typeface="Aptos"/>
            </a:endParaRPr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7B7C2712-C462-4168-AD44-85E441A58804}"/>
              </a:ext>
            </a:extLst>
          </p:cNvPr>
          <p:cNvSpPr txBox="1">
            <a:spLocks/>
          </p:cNvSpPr>
          <p:nvPr/>
        </p:nvSpPr>
        <p:spPr>
          <a:xfrm>
            <a:off x="5932096" y="942278"/>
            <a:ext cx="4656377" cy="51662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1E5155">
                  <a:lumMod val="40000"/>
                  <a:lumOff val="60000"/>
                </a:srgbClr>
              </a:buClr>
              <a:buFont typeface="Arial" charset="2"/>
              <a:buChar char="•"/>
            </a:pPr>
            <a:r>
              <a:rPr lang="tr-TR" sz="1800">
                <a:latin typeface="Aptos"/>
              </a:rPr>
              <a:t>Q3: Which content was directed by Christopher Nolan?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c.title, c.release_year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content c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WHERE c.content_id IN (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    SELECT cc.content_id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    FROM content_cast cc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    JOIN people p ON cc.person_id = p.person_id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    WHERE p.full_name = 'Christopher Nolan'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    AND cc.cast_role = 'Director'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);</a:t>
            </a:r>
            <a:endParaRPr lang="tr-TR" sz="18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34022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B1619A-65C9-4997-DD18-99D094929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153" y="466289"/>
            <a:ext cx="6493528" cy="591780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Q4: What are all reviews with user names and content titles?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u.first_name, u.last_name, c.title, r.rating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reviews r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JOIN users u ON r.user_id = u.user_id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JOIN content c ON r.content_id = c.content_id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ORDER BY r.rating DESC, c.title;</a:t>
            </a:r>
          </a:p>
          <a:p>
            <a:pPr marL="0" indent="0">
              <a:buNone/>
            </a:pPr>
            <a:endParaRPr lang="tr-TR" sz="1800" dirty="0">
              <a:latin typeface="Aptos"/>
              <a:ea typeface="+mj-lt"/>
              <a:cs typeface="+mj-lt"/>
            </a:endParaRPr>
          </a:p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Q5:  Which actors appear in which content?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p.full_name AS actor, c.title, cc.character_name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content_cast cc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JOIN people p ON cc.person_id = p.person_id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JOIN content c ON cc.content_id = c.content_id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WHERE cc.cast_role = 'Actor'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ORDER BY p.full_name;</a:t>
            </a:r>
            <a:endParaRPr lang="tr-TR" sz="1800">
              <a:latin typeface="Aptos"/>
            </a:endParaRPr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3E4264D4-CD51-8692-8AA7-DC76178DA10F}"/>
              </a:ext>
            </a:extLst>
          </p:cNvPr>
          <p:cNvSpPr txBox="1">
            <a:spLocks/>
          </p:cNvSpPr>
          <p:nvPr/>
        </p:nvSpPr>
        <p:spPr>
          <a:xfrm>
            <a:off x="5932096" y="942278"/>
            <a:ext cx="6493528" cy="59178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Q6: What is the number of titles per content </a:t>
            </a:r>
            <a:endParaRPr lang="tr-TR" sz="1800">
              <a:latin typeface="Aptos"/>
            </a:endParaRPr>
          </a:p>
          <a:p>
            <a:pPr marL="0" indent="0">
              <a:buClr>
                <a:srgbClr val="8AD0D6"/>
              </a:buCl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type and their average IMDb rating?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content_type,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COUNT(*) AS title_count,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ROUND(AVG(imdb_rating),2) AS avg_imdb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content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GROUP BY content_type;</a:t>
            </a:r>
          </a:p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Q7: What is the average rating and number of reviews per content?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c.title,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COUNT(r.review_id) AS review_count,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ROUND(AVG(r.rating),2) AS avg_rating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content c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JOIN reviews r ON c.content_id = r.content_id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GROUP BY c.content_id, c.title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ORDER BY avg_rating DESC, review_count DESC;</a:t>
            </a:r>
            <a:endParaRPr lang="tr-TR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13725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7A83010-E031-4D8E-3103-02A071882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154" y="7002"/>
            <a:ext cx="6096871" cy="683638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Q8: Which genres are associated with more than one content item?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g.genre_name,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COUNT(cg.content_id) AS title_count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genres g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JOIN content_genres cg ON g.genre_id = cg.genre_id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GROUP BY g.genre_id, g.genre_name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HAVING COUNT(cg.content_id) &gt; 1</a:t>
            </a:r>
            <a:endParaRPr lang="tr-TR" sz="1800">
              <a:latin typeface="Aptos"/>
            </a:endParaRPr>
          </a:p>
          <a:p>
            <a:pPr marL="0" indent="0"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ORDER BY title_count DESC;</a:t>
            </a:r>
          </a:p>
          <a:p>
            <a:pPr marL="0" indent="0">
              <a:buNone/>
            </a:pPr>
            <a:endParaRPr lang="tr-TR" sz="1800" dirty="0">
              <a:latin typeface="Aptos"/>
              <a:ea typeface="+mj-lt"/>
              <a:cs typeface="+mj-lt"/>
            </a:endParaRPr>
          </a:p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Q9: What are the top 5 most favorited content items?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c.title,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COUNT(f.user_id) AS favorite_count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content c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JOIN favorites f ON c.content_id = f.content_id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GROUP BY c.content_id, c.title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ORDER BY favorite_count DESC</a:t>
            </a:r>
          </a:p>
          <a:p>
            <a:pPr marL="0" indent="0"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LIMIT 5;</a:t>
            </a:r>
            <a:endParaRPr lang="tr-TR">
              <a:latin typeface="Aptos"/>
              <a:ea typeface="+mj-lt"/>
              <a:cs typeface="+mj-lt"/>
            </a:endParaRPr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3F326CD8-0356-9694-3AD7-D085025188A9}"/>
              </a:ext>
            </a:extLst>
          </p:cNvPr>
          <p:cNvSpPr txBox="1">
            <a:spLocks/>
          </p:cNvSpPr>
          <p:nvPr/>
        </p:nvSpPr>
        <p:spPr>
          <a:xfrm>
            <a:off x="5890342" y="1140608"/>
            <a:ext cx="6096871" cy="53228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Arial" charset="2"/>
              <a:buChar char="•"/>
            </a:pPr>
            <a:r>
              <a:rPr lang="tr-TR" sz="1800">
                <a:latin typeface="Aptos"/>
                <a:ea typeface="+mj-lt"/>
                <a:cs typeface="+mj-lt"/>
              </a:rPr>
              <a:t>Q10: What is the monthly revenue per subscription plan?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SELECT p.plan_name,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COUNT(s.subscription_id) AS active_subs,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SUM(p.monthly_price) AS monthly_revenue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FROM subscription_plans p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JOIN subscriptions s ON p.plan_id = s.plan_id</a:t>
            </a: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WHERE s.status = 'Active'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GROUP BY p.plan_id, p.plan_name</a:t>
            </a:r>
            <a:endParaRPr lang="tr-TR" sz="1800">
              <a:latin typeface="Aptos"/>
            </a:endParaRPr>
          </a:p>
          <a:p>
            <a:pPr>
              <a:buNone/>
            </a:pPr>
            <a:r>
              <a:rPr lang="tr-TR" sz="1800">
                <a:latin typeface="Aptos"/>
                <a:ea typeface="+mj-lt"/>
                <a:cs typeface="+mj-lt"/>
              </a:rPr>
              <a:t>ORDER BY monthly_revenue DESC;</a:t>
            </a:r>
            <a:endParaRPr lang="tr-TR">
              <a:latin typeface="Aptos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380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F692E1-9DDB-C8D3-2CE5-A7E3DBC3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>
                <a:ea typeface="+mj-lt"/>
                <a:cs typeface="+mj-lt"/>
              </a:rPr>
              <a:t>Conclusion</a:t>
            </a:r>
            <a:endParaRPr lang="tr-TR" sz="28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EAA0D96-0D32-145F-55BF-B576D040A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668" y="1019521"/>
            <a:ext cx="8946541" cy="419548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VIEWFLIX successfully demonstrates the design of a normalized relational database for a movie and TV streaming platform.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The system manages: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• Users</a:t>
            </a:r>
            <a:br>
              <a:rPr lang="tr-TR" sz="2400" dirty="0">
                <a:latin typeface="Aptos"/>
                <a:ea typeface="+mn-lt"/>
                <a:cs typeface="+mn-lt"/>
              </a:rPr>
            </a:br>
            <a:r>
              <a:rPr lang="tr-TR" sz="2400">
                <a:latin typeface="Aptos"/>
                <a:ea typeface="+mn-lt"/>
                <a:cs typeface="+mn-lt"/>
              </a:rPr>
              <a:t>• Subscriptions</a:t>
            </a:r>
            <a:br>
              <a:rPr lang="tr-TR" sz="2400" dirty="0">
                <a:latin typeface="Aptos"/>
                <a:ea typeface="+mn-lt"/>
                <a:cs typeface="+mn-lt"/>
              </a:rPr>
            </a:br>
            <a:r>
              <a:rPr lang="tr-TR" sz="2400">
                <a:latin typeface="Aptos"/>
                <a:ea typeface="+mn-lt"/>
                <a:cs typeface="+mn-lt"/>
              </a:rPr>
              <a:t>• Streaming Content</a:t>
            </a:r>
            <a:br>
              <a:rPr lang="tr-TR" sz="2400" dirty="0">
                <a:latin typeface="Aptos"/>
                <a:ea typeface="+mn-lt"/>
                <a:cs typeface="+mn-lt"/>
              </a:rPr>
            </a:br>
            <a:r>
              <a:rPr lang="tr-TR" sz="2400">
                <a:latin typeface="Aptos"/>
                <a:ea typeface="+mn-lt"/>
                <a:cs typeface="+mn-lt"/>
              </a:rPr>
              <a:t>• Genres</a:t>
            </a:r>
            <a:br>
              <a:rPr lang="tr-TR" sz="2400" dirty="0">
                <a:latin typeface="Aptos"/>
                <a:ea typeface="+mn-lt"/>
                <a:cs typeface="+mn-lt"/>
              </a:rPr>
            </a:br>
            <a:r>
              <a:rPr lang="tr-TR" sz="2400">
                <a:latin typeface="Aptos"/>
                <a:ea typeface="+mn-lt"/>
                <a:cs typeface="+mn-lt"/>
              </a:rPr>
              <a:t>• People (Actors, Directors, Writers, Producers)</a:t>
            </a:r>
            <a:br>
              <a:rPr lang="tr-TR" sz="2400" dirty="0">
                <a:latin typeface="Aptos"/>
                <a:ea typeface="+mn-lt"/>
                <a:cs typeface="+mn-lt"/>
              </a:rPr>
            </a:br>
            <a:r>
              <a:rPr lang="tr-TR" sz="2400">
                <a:latin typeface="Aptos"/>
                <a:ea typeface="+mn-lt"/>
                <a:cs typeface="+mn-lt"/>
              </a:rPr>
              <a:t>• Reviews</a:t>
            </a:r>
            <a:br>
              <a:rPr lang="tr-TR" sz="2400" dirty="0">
                <a:latin typeface="Aptos"/>
                <a:ea typeface="+mn-lt"/>
                <a:cs typeface="+mn-lt"/>
              </a:rPr>
            </a:br>
            <a:r>
              <a:rPr lang="tr-TR" sz="2400">
                <a:latin typeface="Aptos"/>
                <a:ea typeface="+mn-lt"/>
                <a:cs typeface="+mn-lt"/>
              </a:rPr>
              <a:t>• Favorites</a:t>
            </a:r>
            <a:br>
              <a:rPr lang="tr-TR" sz="2400" dirty="0">
                <a:latin typeface="Aptos"/>
                <a:ea typeface="+mn-lt"/>
                <a:cs typeface="+mn-lt"/>
              </a:rPr>
            </a:br>
            <a:r>
              <a:rPr lang="tr-TR" sz="2400">
                <a:latin typeface="Aptos"/>
                <a:ea typeface="+mn-lt"/>
                <a:cs typeface="+mn-lt"/>
              </a:rPr>
              <a:t>• Watch History</a:t>
            </a:r>
            <a:endParaRPr lang="tr-TR" sz="2400">
              <a:latin typeface="Aptos"/>
            </a:endParaRPr>
          </a:p>
          <a:p>
            <a:pPr>
              <a:buFont typeface="Arial" charset="2"/>
              <a:buChar char="•"/>
            </a:pPr>
            <a:r>
              <a:rPr lang="tr-TR" sz="2400">
                <a:latin typeface="Aptos"/>
                <a:ea typeface="+mn-lt"/>
                <a:cs typeface="+mn-lt"/>
              </a:rPr>
              <a:t>The database satisfies Third Normal Form (3NF), ensuring data integrity, consistency, and efficient management.</a:t>
            </a:r>
            <a:endParaRPr lang="tr-TR">
              <a:latin typeface="Aptos"/>
            </a:endParaRPr>
          </a:p>
          <a:p>
            <a:pPr>
              <a:buFont typeface="Arial" charset="2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86780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8AD0DF-330D-0BA5-4CE1-F38E51DE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>
                <a:latin typeface="Aptos"/>
              </a:rPr>
              <a:t>Thanks...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48C961D-84FF-969C-44EF-82A6E7615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0923353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6" baseType="lpstr">
      <vt:lpstr>Ion</vt:lpstr>
      <vt:lpstr>PowerPoint Sunusu</vt:lpstr>
      <vt:lpstr>Project Overview</vt:lpstr>
      <vt:lpstr>SYSTEM REQUIREMENTS</vt:lpstr>
      <vt:lpstr>ENTITY RELATIONSHIP (ER) DIAGRAM</vt:lpstr>
      <vt:lpstr>PowerPoint Sunusu</vt:lpstr>
      <vt:lpstr>DATABASE DESIGN (3NF)</vt:lpstr>
      <vt:lpstr>TABLE STRUCTURE</vt:lpstr>
      <vt:lpstr>PRIMARY &amp;FOREIGN KEYS</vt:lpstr>
      <vt:lpstr>SAMPLE SQL QUERIES</vt:lpstr>
      <vt:lpstr>PowerPoint Sunusu</vt:lpstr>
      <vt:lpstr>COMPLEX SQL QUERİES</vt:lpstr>
      <vt:lpstr>PowerPoint Sunusu</vt:lpstr>
      <vt:lpstr>PowerPoint Sunusu</vt:lpstr>
      <vt:lpstr>Conclusion</vt:lpstr>
      <vt:lpstr>Thanks...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382</cp:revision>
  <dcterms:created xsi:type="dcterms:W3CDTF">2026-05-30T09:00:24Z</dcterms:created>
  <dcterms:modified xsi:type="dcterms:W3CDTF">2026-06-01T18:33:14Z</dcterms:modified>
</cp:coreProperties>
</file>